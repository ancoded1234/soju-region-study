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360920" y="-731520"/>
            <a:ext cx="5760720" cy="7772400"/>
          </a:xfrm>
          <a:prstGeom prst="arc">
            <a:avLst/>
          </a:prstGeom>
          <a:noFill/>
          <a:ln w="381000">
            <a:solidFill>
              <a:srgbClr val="34434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03504"/>
            <a:ext cx="1152144" cy="356616"/>
          </a:xfrm>
          <a:prstGeom prst="roundRect">
            <a:avLst>
              <a:gd name="adj" fmla="val 30769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583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15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/ 2026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517904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가정용 소주</a:t>
            </a:r>
            <a:endParaRPr lang="ko-KR" sz="3800" dirty="0"/>
          </a:p>
          <a:p>
            <a:pPr algn="l" indent="0" marL="0">
              <a:buNone/>
            </a:pPr>
            <a:r>
              <a:rPr lang="ko-KR" altLang="en-US" sz="38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구매액 1위는?</a:t>
            </a:r>
            <a:endParaRPr lang="ko-KR" sz="3800" dirty="0"/>
          </a:p>
        </p:txBody>
      </p:sp>
      <p:sp>
        <p:nvSpPr>
          <p:cNvPr id="6" name="Text 4"/>
          <p:cNvSpPr/>
          <p:nvPr/>
        </p:nvSpPr>
        <p:spPr>
          <a:xfrm>
            <a:off x="694944" y="352958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8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권역의 공개 TOP 7 순위로 확인한</a:t>
            </a:r>
            <a:endParaRPr lang="ko-KR" sz="1800" dirty="0"/>
          </a:p>
          <a:p>
            <a:pPr algn="l" indent="0" marL="0">
              <a:buNone/>
            </a:pPr>
            <a:r>
              <a:rPr lang="ko-KR" altLang="en-US" sz="18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동네의 1위 브랜드</a:t>
            </a:r>
            <a:endParaRPr lang="ko-KR" sz="1800" dirty="0"/>
          </a:p>
        </p:txBody>
      </p:sp>
      <p:sp>
        <p:nvSpPr>
          <p:cNvPr id="7" name="Text 5"/>
          <p:cNvSpPr/>
          <p:nvPr/>
        </p:nvSpPr>
        <p:spPr>
          <a:xfrm>
            <a:off x="694944" y="5029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MAT · 가정 내 구매액 기준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8321040" y="1965960"/>
            <a:ext cx="310896" cy="2514600"/>
          </a:xfrm>
          <a:prstGeom prst="roundRect">
            <a:avLst>
              <a:gd name="adj" fmla="val 35294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1664208"/>
            <a:ext cx="164592" cy="393192"/>
          </a:xfrm>
          <a:prstGeom prst="roundRect">
            <a:avLst>
              <a:gd name="adj" fmla="val 44444"/>
            </a:avLst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1965960"/>
            <a:ext cx="310896" cy="2514600"/>
          </a:xfrm>
          <a:prstGeom prst="roundRect">
            <a:avLst>
              <a:gd name="adj" fmla="val 35294"/>
            </a:avLst>
          </a:prstGeom>
          <a:solidFill>
            <a:srgbClr val="FF785E"/>
          </a:solidFill>
          <a:ln w="12700">
            <a:solidFill>
              <a:srgbClr val="FF785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97112" y="1664208"/>
            <a:ext cx="164592" cy="393192"/>
          </a:xfrm>
          <a:prstGeom prst="roundRect">
            <a:avLst>
              <a:gd name="adj" fmla="val 44444"/>
            </a:avLst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0" y="1965960"/>
            <a:ext cx="310896" cy="2514600"/>
          </a:xfrm>
          <a:prstGeom prst="roundRect">
            <a:avLst>
              <a:gd name="adj" fmla="val 35294"/>
            </a:avLst>
          </a:prstGeom>
          <a:solidFill>
            <a:srgbClr val="81C8D8"/>
          </a:solidFill>
          <a:ln w="12700">
            <a:solidFill>
              <a:srgbClr val="81C8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00032" y="1664208"/>
            <a:ext cx="164592" cy="393192"/>
          </a:xfrm>
          <a:prstGeom prst="roundRect">
            <a:avLst>
              <a:gd name="adj" fmla="val 44444"/>
            </a:avLst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9800" y="1965960"/>
            <a:ext cx="310896" cy="2514600"/>
          </a:xfrm>
          <a:prstGeom prst="roundRect">
            <a:avLst>
              <a:gd name="adj" fmla="val 35294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02952" y="1664208"/>
            <a:ext cx="164592" cy="393192"/>
          </a:xfrm>
          <a:prstGeom prst="roundRect">
            <a:avLst>
              <a:gd name="adj" fmla="val 44444"/>
            </a:avLst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0" y="1965960"/>
            <a:ext cx="310896" cy="2514600"/>
          </a:xfrm>
          <a:prstGeom prst="roundRect">
            <a:avLst>
              <a:gd name="adj" fmla="val 35294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05872" y="1664208"/>
            <a:ext cx="164592" cy="393192"/>
          </a:xfrm>
          <a:prstGeom prst="roundRect">
            <a:avLst>
              <a:gd name="adj" fmla="val 44444"/>
            </a:avLst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70916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C9F3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/ 5</a:t>
            </a:r>
            <a:endParaRPr lang="ko-KR" sz="4400" dirty="0"/>
          </a:p>
        </p:txBody>
      </p:sp>
      <p:sp>
        <p:nvSpPr>
          <p:cNvPr id="19" name="Text 17"/>
          <p:cNvSpPr/>
          <p:nvPr/>
        </p:nvSpPr>
        <p:spPr>
          <a:xfrm>
            <a:off x="8302752" y="5504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3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권역에서 같은 브랜드가 1위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리터러시 프로젝트  |  2026.10</a:t>
            </a:r>
            <a:endParaRPr lang="ko-KR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1위는 한 브랜드에 모였을까?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5개 권역의 가정용 소주 구매액 순위에서 확인한 결과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32304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6600" b="1" dirty="0">
                <a:solidFill>
                  <a:srgbClr val="C9F3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/ 5</a:t>
            </a:r>
            <a:endParaRPr lang="ko-KR" sz="6600" dirty="0"/>
          </a:p>
        </p:txBody>
      </p:sp>
      <p:sp>
        <p:nvSpPr>
          <p:cNvPr id="8" name="Text 6"/>
          <p:cNvSpPr/>
          <p:nvPr/>
        </p:nvSpPr>
        <p:spPr>
          <a:xfrm>
            <a:off x="987552" y="36758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권역의 1위</a:t>
            </a:r>
            <a:endParaRPr lang="ko-KR" sz="2400" dirty="0"/>
          </a:p>
        </p:txBody>
      </p:sp>
      <p:sp>
        <p:nvSpPr>
          <p:cNvPr id="9" name="Text 7"/>
          <p:cNvSpPr/>
          <p:nvPr/>
        </p:nvSpPr>
        <p:spPr>
          <a:xfrm>
            <a:off x="987552" y="4361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· 충청권 · 전라권 · 강원권</a:t>
            </a:r>
            <a:endParaRPr lang="ko-KR" sz="1500" dirty="0"/>
          </a:p>
        </p:txBody>
      </p:sp>
      <p:sp>
        <p:nvSpPr>
          <p:cNvPr id="10" name="Shape 8"/>
          <p:cNvSpPr/>
          <p:nvPr/>
        </p:nvSpPr>
        <p:spPr>
          <a:xfrm>
            <a:off x="987552" y="4892040"/>
            <a:ext cx="1645920" cy="329184"/>
          </a:xfrm>
          <a:prstGeom prst="roundRect">
            <a:avLst>
              <a:gd name="adj" fmla="val 27778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491032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303520" cy="3246120"/>
          </a:xfrm>
          <a:prstGeom prst="roundRect">
            <a:avLst>
              <a:gd name="adj" fmla="val 3380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2432304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6600" b="1" dirty="0">
                <a:solidFill>
                  <a:srgbClr val="FF78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/ 5</a:t>
            </a:r>
            <a:endParaRPr lang="ko-KR" sz="6600" dirty="0"/>
          </a:p>
        </p:txBody>
      </p:sp>
      <p:sp>
        <p:nvSpPr>
          <p:cNvPr id="14" name="Text 12"/>
          <p:cNvSpPr/>
          <p:nvPr/>
        </p:nvSpPr>
        <p:spPr>
          <a:xfrm>
            <a:off x="6583680" y="36758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1위</a:t>
            </a:r>
            <a:endParaRPr lang="ko-KR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4361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경상권</a:t>
            </a:r>
            <a:endParaRPr lang="ko-KR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4892040"/>
            <a:ext cx="914400" cy="329184"/>
          </a:xfrm>
          <a:prstGeom prst="roundRect">
            <a:avLst>
              <a:gd name="adj" fmla="val 27778"/>
            </a:avLst>
          </a:prstGeom>
          <a:solidFill>
            <a:srgbClr val="FF785E"/>
          </a:solidFill>
          <a:ln w="12700">
            <a:solidFill>
              <a:srgbClr val="FF78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4910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</a:t>
            </a:r>
            <a:endParaRPr lang="ko-KR" sz="900" dirty="0"/>
          </a:p>
        </p:txBody>
      </p:sp>
      <p:sp>
        <p:nvSpPr>
          <p:cNvPr id="18" name="Text 16"/>
          <p:cNvSpPr/>
          <p:nvPr/>
        </p:nvSpPr>
        <p:spPr>
          <a:xfrm>
            <a:off x="704088" y="573328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자료가 말하는 1위는 “가정용 소주류 구매액 순위”의 1위입니다.</a:t>
            </a:r>
            <a:endParaRPr lang="ko-KR" sz="1500" dirty="0"/>
          </a:p>
        </p:txBody>
      </p:sp>
      <p:sp>
        <p:nvSpPr>
          <p:cNvPr id="19" name="Text 17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61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지역 소주”가 집에서도 1위일까?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브랜드의 이미지를 실제 구매 순위와 나란히 놓고 질문을 좁혔습니다.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61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578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FF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3127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브랜드가 1위인가?</a:t>
            </a:r>
            <a:endParaRPr lang="ko-KR" sz="2000" dirty="0"/>
          </a:p>
        </p:txBody>
      </p:sp>
      <p:sp>
        <p:nvSpPr>
          <p:cNvPr id="9" name="Text 7"/>
          <p:cNvSpPr/>
          <p:nvPr/>
        </p:nvSpPr>
        <p:spPr>
          <a:xfrm>
            <a:off x="877824" y="3977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MAT, 권역별 TOP 7</a:t>
            </a:r>
            <a:endParaRPr 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2578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FF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ko-KR" sz="1500" dirty="0"/>
          </a:p>
        </p:txBody>
      </p:sp>
      <p:sp>
        <p:nvSpPr>
          <p:cNvPr id="12" name="Text 10"/>
          <p:cNvSpPr/>
          <p:nvPr/>
        </p:nvSpPr>
        <p:spPr>
          <a:xfrm>
            <a:off x="4700016" y="3127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지역마다 1위가 달라질까?</a:t>
            </a:r>
            <a:endParaRPr lang="ko-KR" sz="2000" dirty="0"/>
          </a:p>
        </p:txBody>
      </p:sp>
      <p:sp>
        <p:nvSpPr>
          <p:cNvPr id="13" name="Text 11"/>
          <p:cNvSpPr/>
          <p:nvPr/>
        </p:nvSpPr>
        <p:spPr>
          <a:xfrm>
            <a:off x="4700016" y="3977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수도권·충청·전라·경상·강원</a:t>
            </a:r>
            <a:endParaRPr 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8302752" y="23317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2208" y="2578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FF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ko-KR" sz="1500" dirty="0"/>
          </a:p>
        </p:txBody>
      </p:sp>
      <p:sp>
        <p:nvSpPr>
          <p:cNvPr id="16" name="Text 14"/>
          <p:cNvSpPr/>
          <p:nvPr/>
        </p:nvSpPr>
        <p:spPr>
          <a:xfrm>
            <a:off x="8522208" y="3127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순위가 말해 주지 않는 것은?</a:t>
            </a:r>
            <a:endParaRPr lang="ko-KR" sz="2000" dirty="0"/>
          </a:p>
        </p:txBody>
      </p:sp>
      <p:sp>
        <p:nvSpPr>
          <p:cNvPr id="17" name="Text 15"/>
          <p:cNvSpPr/>
          <p:nvPr/>
        </p:nvSpPr>
        <p:spPr>
          <a:xfrm>
            <a:off x="8522208" y="3977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구매액 규모, 점유율, 외식 구매</a:t>
            </a:r>
            <a:endParaRPr lang="ko-KR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983480"/>
            <a:ext cx="10881360" cy="685800"/>
          </a:xfrm>
          <a:prstGeom prst="roundRect">
            <a:avLst>
              <a:gd name="adj" fmla="val 16000"/>
            </a:avLst>
          </a:prstGeom>
          <a:solidFill>
            <a:srgbClr val="E9E4D8"/>
          </a:solidFill>
          <a:ln w="12700">
            <a:solidFill>
              <a:srgbClr val="E9E4D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14807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가설: 지역별 1위는 다를 수 있지만, 전국 유통 브랜드가 여러 권역의 선두일 가능성도 있다.</a:t>
            </a:r>
            <a:endParaRPr lang="ko-KR" sz="1400" dirty="0"/>
          </a:p>
        </p:txBody>
      </p:sp>
      <p:sp>
        <p:nvSpPr>
          <p:cNvPr id="20" name="Text 18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/ METHOD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비교한 것은 ‘가정 내 구매액 순위’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선호도 조사나 주류 전체 소비량과는 측정 대상이 다릅니다.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2578608" cy="1572768"/>
          </a:xfrm>
          <a:prstGeom prst="roundRect">
            <a:avLst>
              <a:gd name="adj" fmla="val 6977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제공</a:t>
            </a:r>
            <a:endParaRPr lang="ko-KR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트렌드모니터</a:t>
            </a:r>
            <a:endParaRPr lang="ko-KR" sz="1600" dirty="0"/>
          </a:p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엠브레인 구매딥데이터 DD.B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2286000"/>
            <a:ext cx="2578608" cy="1572768"/>
          </a:xfrm>
          <a:prstGeom prst="roundRect">
            <a:avLst>
              <a:gd name="adj" fmla="val 6977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기간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MAT</a:t>
            </a:r>
            <a:endParaRPr lang="ko-KR" sz="1600" dirty="0"/>
          </a:p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12개월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382512" y="2286000"/>
            <a:ext cx="2578608" cy="1572768"/>
          </a:xfrm>
          <a:prstGeom prst="roundRect">
            <a:avLst>
              <a:gd name="adj" fmla="val 6977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범위</a:t>
            </a:r>
            <a:endParaRPr lang="ko-KR" sz="1000" dirty="0"/>
          </a:p>
        </p:txBody>
      </p:sp>
      <p:sp>
        <p:nvSpPr>
          <p:cNvPr id="14" name="Text 12"/>
          <p:cNvSpPr/>
          <p:nvPr/>
        </p:nvSpPr>
        <p:spPr>
          <a:xfrm>
            <a:off x="6565392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가정용 소주류</a:t>
            </a:r>
            <a:endParaRPr lang="ko-KR" sz="1600" dirty="0"/>
          </a:p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+ 5개 권역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9244584" y="2286000"/>
            <a:ext cx="2578608" cy="1572768"/>
          </a:xfrm>
          <a:prstGeom prst="roundRect">
            <a:avLst>
              <a:gd name="adj" fmla="val 6977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464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항목</a:t>
            </a:r>
            <a:endParaRPr lang="ko-KR" sz="1000" dirty="0"/>
          </a:p>
        </p:txBody>
      </p:sp>
      <p:sp>
        <p:nvSpPr>
          <p:cNvPr id="17" name="Text 15"/>
          <p:cNvSpPr/>
          <p:nvPr/>
        </p:nvSpPr>
        <p:spPr>
          <a:xfrm>
            <a:off x="9427464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권역별 TOP 7</a:t>
            </a:r>
            <a:endParaRPr lang="ko-KR" sz="1600" dirty="0"/>
          </a:p>
          <a:p>
            <a:pPr algn="l" indent="0" marL="0">
              <a:buNone/>
            </a:pPr>
            <a:r>
              <a:rPr lang="ko-KR" altLang="en-US" sz="16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순위와 브랜드명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713232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전사·정리 과정</a:t>
            </a:r>
            <a:endParaRPr lang="ko-KR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470916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6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순위 이미지 직접 확인 → 6개 그룹 × 7위 = 42개 항목 CSV화 → 각 권역 1위 추출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713232" y="56509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300" b="1" dirty="0">
                <a:solidFill>
                  <a:srgbClr val="FF7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구매액 원수치·패널 규모·가중 방식은 공개 페이지에서 확인하지 못했습니다.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61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REGIONAL LEADERS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권역 중 네 곳, 참이슬 후레쉬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권역 구분 그대로 정리했습니다. 제주도는 별도 권역으로 제시되지 않습니다.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61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27432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677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</a:t>
            </a:r>
            <a:endParaRPr lang="ko-KR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26517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5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1위</a:t>
            </a:r>
            <a:endParaRPr lang="ko-KR" sz="3000" dirty="0"/>
          </a:p>
        </p:txBody>
      </p:sp>
      <p:sp>
        <p:nvSpPr>
          <p:cNvPr id="9" name="Text 7"/>
          <p:cNvSpPr/>
          <p:nvPr/>
        </p:nvSpPr>
        <p:spPr>
          <a:xfrm>
            <a:off x="1810512" y="27249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500" dirty="0"/>
          </a:p>
        </p:txBody>
      </p:sp>
      <p:sp>
        <p:nvSpPr>
          <p:cNvPr id="10" name="Shape 8"/>
          <p:cNvSpPr/>
          <p:nvPr/>
        </p:nvSpPr>
        <p:spPr>
          <a:xfrm>
            <a:off x="3886200" y="2103120"/>
            <a:ext cx="27432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22677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충청</a:t>
            </a:r>
            <a:endParaRPr lang="ko-KR" sz="1100" dirty="0"/>
          </a:p>
        </p:txBody>
      </p:sp>
      <p:sp>
        <p:nvSpPr>
          <p:cNvPr id="12" name="Text 10"/>
          <p:cNvSpPr/>
          <p:nvPr/>
        </p:nvSpPr>
        <p:spPr>
          <a:xfrm>
            <a:off x="4087368" y="26517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5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1위</a:t>
            </a:r>
            <a:endParaRPr lang="ko-KR" sz="3000" dirty="0"/>
          </a:p>
        </p:txBody>
      </p:sp>
      <p:sp>
        <p:nvSpPr>
          <p:cNvPr id="13" name="Text 11"/>
          <p:cNvSpPr/>
          <p:nvPr/>
        </p:nvSpPr>
        <p:spPr>
          <a:xfrm>
            <a:off x="4873752" y="27249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27432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22677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</a:t>
            </a:r>
            <a:endParaRPr lang="ko-KR" sz="1100" dirty="0"/>
          </a:p>
        </p:txBody>
      </p:sp>
      <p:sp>
        <p:nvSpPr>
          <p:cNvPr id="16" name="Text 14"/>
          <p:cNvSpPr/>
          <p:nvPr/>
        </p:nvSpPr>
        <p:spPr>
          <a:xfrm>
            <a:off x="7150608" y="26517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5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1위</a:t>
            </a:r>
            <a:endParaRPr lang="ko-KR" sz="3000" dirty="0"/>
          </a:p>
        </p:txBody>
      </p:sp>
      <p:sp>
        <p:nvSpPr>
          <p:cNvPr id="17" name="Text 15"/>
          <p:cNvSpPr/>
          <p:nvPr/>
        </p:nvSpPr>
        <p:spPr>
          <a:xfrm>
            <a:off x="7936992" y="27249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096512"/>
            <a:ext cx="27432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261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</a:t>
            </a:r>
            <a:endParaRPr lang="ko-KR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46451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5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1위</a:t>
            </a:r>
            <a:endParaRPr lang="ko-KR" sz="3000" dirty="0"/>
          </a:p>
        </p:txBody>
      </p:sp>
      <p:sp>
        <p:nvSpPr>
          <p:cNvPr id="21" name="Text 19"/>
          <p:cNvSpPr/>
          <p:nvPr/>
        </p:nvSpPr>
        <p:spPr>
          <a:xfrm>
            <a:off x="1810512" y="471830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4096512"/>
            <a:ext cx="2743200" cy="1527048"/>
          </a:xfrm>
          <a:prstGeom prst="roundRect">
            <a:avLst>
              <a:gd name="adj" fmla="val 7186"/>
            </a:avLst>
          </a:prstGeom>
          <a:solidFill>
            <a:srgbClr val="152222"/>
          </a:solidFill>
          <a:ln w="12700">
            <a:solidFill>
              <a:srgbClr val="15222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4261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81C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</a:t>
            </a:r>
            <a:endParaRPr lang="ko-KR" sz="1100" dirty="0"/>
          </a:p>
        </p:txBody>
      </p:sp>
      <p:sp>
        <p:nvSpPr>
          <p:cNvPr id="24" name="Text 22"/>
          <p:cNvSpPr/>
          <p:nvPr/>
        </p:nvSpPr>
        <p:spPr>
          <a:xfrm>
            <a:off x="7150608" y="46451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FF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1위</a:t>
            </a:r>
            <a:endParaRPr lang="ko-KR" sz="3000" dirty="0"/>
          </a:p>
        </p:txBody>
      </p:sp>
      <p:sp>
        <p:nvSpPr>
          <p:cNvPr id="25" name="Text 23"/>
          <p:cNvSpPr/>
          <p:nvPr/>
        </p:nvSpPr>
        <p:spPr>
          <a:xfrm>
            <a:off x="7936992" y="471830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</a:t>
            </a:r>
            <a:endParaRPr lang="ko-KR" sz="1500" dirty="0"/>
          </a:p>
        </p:txBody>
      </p:sp>
      <p:sp>
        <p:nvSpPr>
          <p:cNvPr id="26" name="Shape 24"/>
          <p:cNvSpPr/>
          <p:nvPr/>
        </p:nvSpPr>
        <p:spPr>
          <a:xfrm>
            <a:off x="10012680" y="2103120"/>
            <a:ext cx="1508760" cy="3520440"/>
          </a:xfrm>
          <a:prstGeom prst="roundRect">
            <a:avLst>
              <a:gd name="adj" fmla="val 7273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514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15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ko-KR" sz="4800" dirty="0"/>
          </a:p>
        </p:txBody>
      </p:sp>
      <p:sp>
        <p:nvSpPr>
          <p:cNvPr id="28" name="Text 26"/>
          <p:cNvSpPr/>
          <p:nvPr/>
        </p:nvSpPr>
        <p:spPr>
          <a:xfrm>
            <a:off x="10168128" y="35021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권역</a:t>
            </a:r>
            <a:endParaRPr lang="ko-KR" sz="1200" dirty="0"/>
          </a:p>
        </p:txBody>
      </p:sp>
      <p:sp>
        <p:nvSpPr>
          <p:cNvPr id="29" name="Text 27"/>
          <p:cNvSpPr/>
          <p:nvPr/>
        </p:nvSpPr>
        <p:spPr>
          <a:xfrm>
            <a:off x="10149840" y="39684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1위</a:t>
            </a:r>
            <a:endParaRPr lang="ko-KR" sz="1200" dirty="0"/>
          </a:p>
        </p:txBody>
      </p:sp>
      <p:sp>
        <p:nvSpPr>
          <p:cNvPr id="30" name="Text 28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RANKS AT A GLANCE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1위뿐 아니라 TOP 5의 배열도 닮았다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색상은 브랜드명 식별용입니다. 칸의 크기·색 농도는 구매액을 뜻하지 않습니다.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ko-KR" sz="900" dirty="0"/>
          </a:p>
        </p:txBody>
      </p:sp>
      <p:sp>
        <p:nvSpPr>
          <p:cNvPr id="6" name="Text 4"/>
          <p:cNvSpPr/>
          <p:nvPr/>
        </p:nvSpPr>
        <p:spPr>
          <a:xfrm>
            <a:off x="694944" y="21762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</a:t>
            </a:r>
            <a:endParaRPr lang="ko-KR" sz="1100" dirty="0"/>
          </a:p>
        </p:txBody>
      </p:sp>
      <p:sp>
        <p:nvSpPr>
          <p:cNvPr id="7" name="Text 5"/>
          <p:cNvSpPr/>
          <p:nvPr/>
        </p:nvSpPr>
        <p:spPr>
          <a:xfrm>
            <a:off x="2121408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3904488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충청</a:t>
            </a:r>
            <a:endParaRPr lang="ko-KR" sz="1200" dirty="0"/>
          </a:p>
        </p:txBody>
      </p:sp>
      <p:sp>
        <p:nvSpPr>
          <p:cNvPr id="9" name="Text 7"/>
          <p:cNvSpPr/>
          <p:nvPr/>
        </p:nvSpPr>
        <p:spPr>
          <a:xfrm>
            <a:off x="5687568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7470648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</a:t>
            </a:r>
            <a:endParaRPr lang="ko-KR" sz="1200" dirty="0"/>
          </a:p>
        </p:txBody>
      </p:sp>
      <p:sp>
        <p:nvSpPr>
          <p:cNvPr id="11" name="Text 9"/>
          <p:cNvSpPr/>
          <p:nvPr/>
        </p:nvSpPr>
        <p:spPr>
          <a:xfrm>
            <a:off x="9253728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</a:t>
            </a:r>
            <a:endParaRPr lang="ko-KR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2004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C9F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ko-KR" sz="1500" dirty="0"/>
          </a:p>
        </p:txBody>
      </p:sp>
      <p:sp>
        <p:nvSpPr>
          <p:cNvPr id="13" name="Shape 11"/>
          <p:cNvSpPr/>
          <p:nvPr/>
        </p:nvSpPr>
        <p:spPr>
          <a:xfrm>
            <a:off x="2121408" y="3108960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3172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100" dirty="0"/>
          </a:p>
        </p:txBody>
      </p:sp>
      <p:sp>
        <p:nvSpPr>
          <p:cNvPr id="15" name="Shape 13"/>
          <p:cNvSpPr/>
          <p:nvPr/>
        </p:nvSpPr>
        <p:spPr>
          <a:xfrm>
            <a:off x="3904488" y="3108960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3172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100" dirty="0"/>
          </a:p>
        </p:txBody>
      </p:sp>
      <p:sp>
        <p:nvSpPr>
          <p:cNvPr id="17" name="Shape 15"/>
          <p:cNvSpPr/>
          <p:nvPr/>
        </p:nvSpPr>
        <p:spPr>
          <a:xfrm>
            <a:off x="5687568" y="3108960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3172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7470648" y="3108960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FF785E"/>
          </a:solidFill>
          <a:ln w="12700">
            <a:solidFill>
              <a:srgbClr val="FF785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3172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</a:t>
            </a:r>
            <a:endParaRPr lang="ko-KR" sz="1100" dirty="0"/>
          </a:p>
        </p:txBody>
      </p:sp>
      <p:sp>
        <p:nvSpPr>
          <p:cNvPr id="21" name="Shape 19"/>
          <p:cNvSpPr/>
          <p:nvPr/>
        </p:nvSpPr>
        <p:spPr>
          <a:xfrm>
            <a:off x="9253728" y="3108960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3172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7856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ko-KR" sz="1500" dirty="0"/>
          </a:p>
        </p:txBody>
      </p:sp>
      <p:sp>
        <p:nvSpPr>
          <p:cNvPr id="24" name="Shape 22"/>
          <p:cNvSpPr/>
          <p:nvPr/>
        </p:nvSpPr>
        <p:spPr>
          <a:xfrm>
            <a:off x="2121408" y="3694176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처음처럼</a:t>
            </a:r>
            <a:endParaRPr lang="ko-KR" sz="1100" dirty="0"/>
          </a:p>
        </p:txBody>
      </p:sp>
      <p:sp>
        <p:nvSpPr>
          <p:cNvPr id="26" name="Shape 24"/>
          <p:cNvSpPr/>
          <p:nvPr/>
        </p:nvSpPr>
        <p:spPr>
          <a:xfrm>
            <a:off x="3904488" y="3694176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0208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처음처럼</a:t>
            </a:r>
            <a:endParaRPr lang="ko-KR" sz="1100" dirty="0"/>
          </a:p>
        </p:txBody>
      </p:sp>
      <p:sp>
        <p:nvSpPr>
          <p:cNvPr id="28" name="Shape 26"/>
          <p:cNvSpPr/>
          <p:nvPr/>
        </p:nvSpPr>
        <p:spPr>
          <a:xfrm>
            <a:off x="5687568" y="3694176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처음처럼</a:t>
            </a:r>
            <a:endParaRPr lang="ko-KR" sz="1100" dirty="0"/>
          </a:p>
        </p:txBody>
      </p:sp>
      <p:sp>
        <p:nvSpPr>
          <p:cNvPr id="30" name="Shape 28"/>
          <p:cNvSpPr/>
          <p:nvPr/>
        </p:nvSpPr>
        <p:spPr>
          <a:xfrm>
            <a:off x="7470648" y="3694176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C9F36A"/>
          </a:solidFill>
          <a:ln w="12700">
            <a:solidFill>
              <a:srgbClr val="C9F36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참이슬 후레쉬</a:t>
            </a:r>
            <a:endParaRPr lang="ko-KR" sz="1100" dirty="0"/>
          </a:p>
        </p:txBody>
      </p:sp>
      <p:sp>
        <p:nvSpPr>
          <p:cNvPr id="32" name="Shape 30"/>
          <p:cNvSpPr/>
          <p:nvPr/>
        </p:nvSpPr>
        <p:spPr>
          <a:xfrm>
            <a:off x="9253728" y="3694176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99448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처음처럼</a:t>
            </a:r>
            <a:endParaRPr lang="ko-KR" sz="1100" dirty="0"/>
          </a:p>
        </p:txBody>
      </p:sp>
      <p:sp>
        <p:nvSpPr>
          <p:cNvPr id="34" name="Text 32"/>
          <p:cNvSpPr/>
          <p:nvPr/>
        </p:nvSpPr>
        <p:spPr>
          <a:xfrm>
            <a:off x="896112" y="43708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ko-KR" sz="1500" dirty="0"/>
          </a:p>
        </p:txBody>
      </p:sp>
      <p:sp>
        <p:nvSpPr>
          <p:cNvPr id="35" name="Shape 33"/>
          <p:cNvSpPr/>
          <p:nvPr/>
        </p:nvSpPr>
        <p:spPr>
          <a:xfrm>
            <a:off x="2121408" y="4279392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67128" y="43434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</a:t>
            </a:r>
            <a:endParaRPr lang="ko-KR" sz="1100" dirty="0"/>
          </a:p>
        </p:txBody>
      </p:sp>
      <p:sp>
        <p:nvSpPr>
          <p:cNvPr id="37" name="Shape 35"/>
          <p:cNvSpPr/>
          <p:nvPr/>
        </p:nvSpPr>
        <p:spPr>
          <a:xfrm>
            <a:off x="3904488" y="4279392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FF785E"/>
          </a:solidFill>
          <a:ln w="12700">
            <a:solidFill>
              <a:srgbClr val="FF785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43434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</a:t>
            </a:r>
            <a:endParaRPr lang="ko-KR" sz="1100" dirty="0"/>
          </a:p>
        </p:txBody>
      </p:sp>
      <p:sp>
        <p:nvSpPr>
          <p:cNvPr id="39" name="Shape 37"/>
          <p:cNvSpPr/>
          <p:nvPr/>
        </p:nvSpPr>
        <p:spPr>
          <a:xfrm>
            <a:off x="5687568" y="4279392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33288" y="43434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</a:t>
            </a:r>
            <a:endParaRPr lang="ko-KR" sz="1100" dirty="0"/>
          </a:p>
        </p:txBody>
      </p:sp>
      <p:sp>
        <p:nvSpPr>
          <p:cNvPr id="41" name="Shape 39"/>
          <p:cNvSpPr/>
          <p:nvPr/>
        </p:nvSpPr>
        <p:spPr>
          <a:xfrm>
            <a:off x="7470648" y="4279392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43434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좋은데이</a:t>
            </a:r>
            <a:endParaRPr lang="ko-KR" sz="1100" dirty="0"/>
          </a:p>
        </p:txBody>
      </p:sp>
      <p:sp>
        <p:nvSpPr>
          <p:cNvPr id="43" name="Shape 41"/>
          <p:cNvSpPr/>
          <p:nvPr/>
        </p:nvSpPr>
        <p:spPr>
          <a:xfrm>
            <a:off x="9253728" y="4279392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FF785E"/>
          </a:solidFill>
          <a:ln w="12700">
            <a:solidFill>
              <a:srgbClr val="FF785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99448" y="434340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</a:t>
            </a:r>
            <a:endParaRPr lang="ko-KR" sz="1100" dirty="0"/>
          </a:p>
        </p:txBody>
      </p:sp>
      <p:sp>
        <p:nvSpPr>
          <p:cNvPr id="45" name="Text 43"/>
          <p:cNvSpPr/>
          <p:nvPr/>
        </p:nvSpPr>
        <p:spPr>
          <a:xfrm>
            <a:off x="896112" y="4956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ko-KR" sz="1500" dirty="0"/>
          </a:p>
        </p:txBody>
      </p:sp>
      <p:sp>
        <p:nvSpPr>
          <p:cNvPr id="46" name="Shape 44"/>
          <p:cNvSpPr/>
          <p:nvPr/>
        </p:nvSpPr>
        <p:spPr>
          <a:xfrm>
            <a:off x="2121408" y="4864608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FF785E"/>
          </a:solidFill>
          <a:ln w="12700">
            <a:solidFill>
              <a:srgbClr val="FF785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67128" y="492861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</a:t>
            </a:r>
            <a:endParaRPr lang="ko-KR" sz="1100" dirty="0"/>
          </a:p>
        </p:txBody>
      </p:sp>
      <p:sp>
        <p:nvSpPr>
          <p:cNvPr id="48" name="Shape 46"/>
          <p:cNvSpPr/>
          <p:nvPr/>
        </p:nvSpPr>
        <p:spPr>
          <a:xfrm>
            <a:off x="3904488" y="4864608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50208" y="492861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</a:t>
            </a:r>
            <a:endParaRPr lang="ko-KR" sz="1100" dirty="0"/>
          </a:p>
        </p:txBody>
      </p:sp>
      <p:sp>
        <p:nvSpPr>
          <p:cNvPr id="50" name="Shape 48"/>
          <p:cNvSpPr/>
          <p:nvPr/>
        </p:nvSpPr>
        <p:spPr>
          <a:xfrm>
            <a:off x="5687568" y="4864608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FF785E"/>
          </a:solidFill>
          <a:ln w="12700">
            <a:solidFill>
              <a:srgbClr val="FF785E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33288" y="492861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</a:t>
            </a:r>
            <a:endParaRPr lang="ko-KR" sz="1100" dirty="0"/>
          </a:p>
        </p:txBody>
      </p:sp>
      <p:sp>
        <p:nvSpPr>
          <p:cNvPr id="52" name="Shape 50"/>
          <p:cNvSpPr/>
          <p:nvPr/>
        </p:nvSpPr>
        <p:spPr>
          <a:xfrm>
            <a:off x="7470648" y="4864608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16368" y="492861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깨끗한아침 참</a:t>
            </a:r>
            <a:endParaRPr lang="ko-KR" sz="1100" dirty="0"/>
          </a:p>
        </p:txBody>
      </p:sp>
      <p:sp>
        <p:nvSpPr>
          <p:cNvPr id="54" name="Shape 52"/>
          <p:cNvSpPr/>
          <p:nvPr/>
        </p:nvSpPr>
        <p:spPr>
          <a:xfrm>
            <a:off x="9253728" y="4864608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9448" y="492861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</a:t>
            </a:r>
            <a:endParaRPr lang="ko-KR" sz="1100" dirty="0"/>
          </a:p>
        </p:txBody>
      </p:sp>
      <p:sp>
        <p:nvSpPr>
          <p:cNvPr id="56" name="Text 54"/>
          <p:cNvSpPr/>
          <p:nvPr/>
        </p:nvSpPr>
        <p:spPr>
          <a:xfrm>
            <a:off x="896112" y="55412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ko-KR" sz="1500" dirty="0"/>
          </a:p>
        </p:txBody>
      </p:sp>
      <p:sp>
        <p:nvSpPr>
          <p:cNvPr id="57" name="Shape 55"/>
          <p:cNvSpPr/>
          <p:nvPr/>
        </p:nvSpPr>
        <p:spPr>
          <a:xfrm>
            <a:off x="2121408" y="5449824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67128" y="5513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진로골드</a:t>
            </a:r>
            <a:endParaRPr lang="ko-KR" sz="1100" dirty="0"/>
          </a:p>
        </p:txBody>
      </p:sp>
      <p:sp>
        <p:nvSpPr>
          <p:cNvPr id="59" name="Shape 57"/>
          <p:cNvSpPr/>
          <p:nvPr/>
        </p:nvSpPr>
        <p:spPr>
          <a:xfrm>
            <a:off x="3904488" y="5449824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50208" y="5513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이제우린</a:t>
            </a:r>
            <a:endParaRPr lang="ko-KR" sz="1100" dirty="0"/>
          </a:p>
        </p:txBody>
      </p:sp>
      <p:sp>
        <p:nvSpPr>
          <p:cNvPr id="61" name="Shape 59"/>
          <p:cNvSpPr/>
          <p:nvPr/>
        </p:nvSpPr>
        <p:spPr>
          <a:xfrm>
            <a:off x="5687568" y="5449824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33288" y="5513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잎새주</a:t>
            </a:r>
            <a:endParaRPr lang="ko-KR" sz="1100" dirty="0"/>
          </a:p>
        </p:txBody>
      </p:sp>
      <p:sp>
        <p:nvSpPr>
          <p:cNvPr id="63" name="Shape 61"/>
          <p:cNvSpPr/>
          <p:nvPr/>
        </p:nvSpPr>
        <p:spPr>
          <a:xfrm>
            <a:off x="7470648" y="5449824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16368" y="5513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</a:t>
            </a:r>
            <a:endParaRPr lang="ko-KR" sz="1100" dirty="0"/>
          </a:p>
        </p:txBody>
      </p:sp>
      <p:sp>
        <p:nvSpPr>
          <p:cNvPr id="65" name="Shape 63"/>
          <p:cNvSpPr/>
          <p:nvPr/>
        </p:nvSpPr>
        <p:spPr>
          <a:xfrm>
            <a:off x="9253728" y="5449824"/>
            <a:ext cx="1673352" cy="475488"/>
          </a:xfrm>
          <a:prstGeom prst="roundRect">
            <a:avLst>
              <a:gd name="adj" fmla="val 15385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99448" y="5513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진로골드</a:t>
            </a:r>
            <a:endParaRPr lang="ko-KR" sz="1100" dirty="0"/>
          </a:p>
        </p:txBody>
      </p:sp>
      <p:sp>
        <p:nvSpPr>
          <p:cNvPr id="67" name="Text 65"/>
          <p:cNvSpPr/>
          <p:nvPr/>
        </p:nvSpPr>
        <p:spPr>
          <a:xfrm>
            <a:off x="713232" y="5897880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3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순위도 1위는 참이슬 후레쉬 · 2위 처음처럼 · 3위 진로</a:t>
            </a:r>
            <a:endParaRPr lang="ko-KR" sz="1300" dirty="0"/>
          </a:p>
        </p:txBody>
      </p:sp>
      <p:sp>
        <p:nvSpPr>
          <p:cNvPr id="68" name="Text 66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SIGNALS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브랜드도 순위표에 등장한다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지역 권역에서 1위인지는 별개로 확인해야 합니다. 아래는 해당 권역 TOP 7 내 위치입니다.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2395728"/>
            <a:ext cx="3456432" cy="2606040"/>
          </a:xfrm>
          <a:prstGeom prst="roundRect">
            <a:avLst>
              <a:gd name="adj" fmla="val 4211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670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8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충청권</a:t>
            </a:r>
            <a:endParaRPr lang="ko-KR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3246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이제우린  #5</a:t>
            </a:r>
            <a:endParaRPr lang="ko-KR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685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오투린  #6</a:t>
            </a:r>
            <a:endParaRPr lang="ko-KR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4123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선양  #7</a:t>
            </a:r>
            <a:endParaRPr lang="ko-KR" sz="1400" dirty="0"/>
          </a:p>
        </p:txBody>
      </p:sp>
      <p:sp>
        <p:nvSpPr>
          <p:cNvPr id="11" name="Shape 9"/>
          <p:cNvSpPr/>
          <p:nvPr/>
        </p:nvSpPr>
        <p:spPr>
          <a:xfrm>
            <a:off x="4535424" y="2395728"/>
            <a:ext cx="3456432" cy="2606040"/>
          </a:xfrm>
          <a:prstGeom prst="roundRect">
            <a:avLst>
              <a:gd name="adj" fmla="val 4211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70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8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전라권</a:t>
            </a:r>
            <a:endParaRPr lang="ko-KR" sz="1800" dirty="0"/>
          </a:p>
        </p:txBody>
      </p:sp>
      <p:sp>
        <p:nvSpPr>
          <p:cNvPr id="13" name="Text 11"/>
          <p:cNvSpPr/>
          <p:nvPr/>
        </p:nvSpPr>
        <p:spPr>
          <a:xfrm>
            <a:off x="4791456" y="3246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잎새주  #5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8357616" y="2395728"/>
            <a:ext cx="3456432" cy="2606040"/>
          </a:xfrm>
          <a:prstGeom prst="roundRect">
            <a:avLst>
              <a:gd name="adj" fmla="val 4211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2670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8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경상권</a:t>
            </a:r>
            <a:endParaRPr lang="ko-KR" sz="1800" dirty="0"/>
          </a:p>
        </p:txBody>
      </p:sp>
      <p:sp>
        <p:nvSpPr>
          <p:cNvPr id="16" name="Text 14"/>
          <p:cNvSpPr/>
          <p:nvPr/>
        </p:nvSpPr>
        <p:spPr>
          <a:xfrm>
            <a:off x="8613648" y="3246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좋은데이  #3</a:t>
            </a:r>
            <a:endParaRPr lang="ko-KR" sz="1400" dirty="0"/>
          </a:p>
        </p:txBody>
      </p:sp>
      <p:sp>
        <p:nvSpPr>
          <p:cNvPr id="17" name="Text 15"/>
          <p:cNvSpPr/>
          <p:nvPr/>
        </p:nvSpPr>
        <p:spPr>
          <a:xfrm>
            <a:off x="8613648" y="3685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깨끗한아침 참  #4</a:t>
            </a:r>
            <a:endParaRPr lang="ko-KR" sz="1400" dirty="0"/>
          </a:p>
        </p:txBody>
      </p:sp>
      <p:sp>
        <p:nvSpPr>
          <p:cNvPr id="18" name="Text 16"/>
          <p:cNvSpPr/>
          <p:nvPr/>
        </p:nvSpPr>
        <p:spPr>
          <a:xfrm>
            <a:off x="8613648" y="4123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시원  #6</a:t>
            </a:r>
            <a:endParaRPr lang="ko-KR" sz="1400" dirty="0"/>
          </a:p>
        </p:txBody>
      </p:sp>
      <p:sp>
        <p:nvSpPr>
          <p:cNvPr id="19" name="Text 17"/>
          <p:cNvSpPr/>
          <p:nvPr/>
        </p:nvSpPr>
        <p:spPr>
          <a:xfrm>
            <a:off x="8613648" y="45628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대선  #7</a:t>
            </a:r>
            <a:endParaRPr lang="ko-KR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542239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900" b="1" dirty="0">
                <a:solidFill>
                  <a:srgbClr val="FF7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순위표에 보임 = 해당 권역 1위라는 뜻은 아님</a:t>
            </a:r>
            <a:endParaRPr lang="ko-KR" sz="1900" dirty="0"/>
          </a:p>
        </p:txBody>
      </p:sp>
      <p:sp>
        <p:nvSpPr>
          <p:cNvPr id="21" name="Text 19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61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DATA SAYS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1위는 다르지만, 차이는 한 권역에서 나타났다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TOP 7만으로 말할 수 있는 관찰과 해석의 경계를 나눕니다.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61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212848"/>
            <a:ext cx="5193792" cy="2880360"/>
          </a:xfrm>
          <a:prstGeom prst="roundRect">
            <a:avLst>
              <a:gd name="adj" fmla="val 3810"/>
            </a:avLst>
          </a:prstGeom>
          <a:solidFill>
            <a:srgbClr val="E4EBD9"/>
          </a:solidFill>
          <a:ln w="12700">
            <a:solidFill>
              <a:srgbClr val="E4EBD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87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300" b="1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08152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권역  →  참이슬 후레쉬</a:t>
            </a:r>
            <a:endParaRPr lang="ko-KR" sz="2400" dirty="0"/>
          </a:p>
          <a:p>
            <a:pPr algn="l" indent="0" marL="0">
              <a:buNone/>
            </a:pPr>
            <a:r>
              <a:rPr lang="ko-KR" altLang="en-US" sz="24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경상권      →  진로</a:t>
            </a:r>
            <a:endParaRPr lang="ko-KR" sz="2400" dirty="0"/>
          </a:p>
        </p:txBody>
      </p:sp>
      <p:sp>
        <p:nvSpPr>
          <p:cNvPr id="9" name="Text 7"/>
          <p:cNvSpPr/>
          <p:nvPr/>
        </p:nvSpPr>
        <p:spPr>
          <a:xfrm>
            <a:off x="987552" y="4480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3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1위도 참이슬 후레쉬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2212848"/>
            <a:ext cx="5285232" cy="2880360"/>
          </a:xfrm>
          <a:prstGeom prst="roundRect">
            <a:avLst>
              <a:gd name="adj" fmla="val 3810"/>
            </a:avLst>
          </a:prstGeom>
          <a:solidFill>
            <a:srgbClr val="152222"/>
          </a:solidFill>
          <a:ln w="12700">
            <a:solidFill>
              <a:srgbClr val="15222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300" b="1" dirty="0">
                <a:solidFill>
                  <a:srgbClr val="81C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해석의 범위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473952" y="3063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“가정용 구매액 순위에서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권역별 선두 브랜드가 같다/다르다”</a:t>
            </a:r>
            <a:endParaRPr lang="ko-KR" sz="2000" dirty="0"/>
          </a:p>
        </p:txBody>
      </p:sp>
      <p:sp>
        <p:nvSpPr>
          <p:cNvPr id="13" name="Text 11"/>
          <p:cNvSpPr/>
          <p:nvPr/>
        </p:nvSpPr>
        <p:spPr>
          <a:xfrm>
            <a:off x="6473952" y="4480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선호 원인이나 지역 충성도를 입증한 것은 아님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15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시점의 순위는 차이를 보여 주지만, 왜 그런지는 설명하지 않습니다.</a:t>
            </a:r>
            <a:endParaRPr lang="ko-KR" sz="1500" dirty="0"/>
          </a:p>
        </p:txBody>
      </p:sp>
      <p:sp>
        <p:nvSpPr>
          <p:cNvPr id="15" name="Text 13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 &amp; NEXT STEP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순위를 ‘지역별 소비량’으로 읽으면 안 된다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다루지 않거나 공개하지 않은 항목을 명시합니다.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31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구매액 수치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2128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금액·점유율·판매량 없음</a:t>
            </a:r>
            <a:endParaRPr lang="ko-KR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07208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895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ko-KR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871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가정용 구매만; 음식점·주점 제외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465576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정보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5295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규모·표집·가중 방법 미공개</a:t>
            </a:r>
            <a:endParaRPr lang="ko-KR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123944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206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단위</a:t>
            </a:r>
            <a:endParaRPr lang="ko-KR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18795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권역; 제주 별도 순위 없음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782312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864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ko-KR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8463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가격·유통·브랜드 인지도 효과 분리 불가</a:t>
            </a:r>
            <a:endParaRPr lang="ko-KR" sz="1400" dirty="0"/>
          </a:p>
        </p:txBody>
      </p:sp>
      <p:sp>
        <p:nvSpPr>
          <p:cNvPr id="21" name="Text 19"/>
          <p:cNvSpPr/>
          <p:nvPr/>
        </p:nvSpPr>
        <p:spPr>
          <a:xfrm>
            <a:off x="768096" y="5742432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400" b="1" dirty="0">
                <a:solidFill>
                  <a:srgbClr val="81C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조사: 동일 기간의 지역별 판매량·구매액 원자료와 외식 채널을 함께 비교</a:t>
            </a:r>
            <a:endParaRPr lang="ko-KR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트렌드모니터·엠브레인 DD.B, 2026년 5월 MAT | 수집·전사 확인: 2026-10-19</a:t>
            </a:r>
            <a:endParaRPr lang="ko-KR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C9F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ko-KR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700" b="1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가정용 구매액 1위, 네 권역의 답은 같았다</a:t>
            </a:r>
            <a:endParaRPr lang="ko-KR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수도권·충청권·전라권·강원권은 참이슬 후레쉬, 경상권은 진로.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11045952" y="6473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B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ko-KR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rgbClr val="C9F3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결론은 공개된 2026년 5월 MAT TOP 7의 순위 범위 안에서만 유효합니다.</a:t>
            </a:r>
            <a:endParaRPr lang="ko-KR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3127248"/>
            <a:ext cx="10771632" cy="2039112"/>
          </a:xfrm>
          <a:prstGeom prst="roundRect">
            <a:avLst>
              <a:gd name="adj" fmla="val 5381"/>
            </a:avLst>
          </a:prstGeom>
          <a:solidFill>
            <a:srgbClr val="1A2929"/>
          </a:solidFill>
          <a:ln w="12700">
            <a:solidFill>
              <a:srgbClr val="1A292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81C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출처</a:t>
            </a:r>
            <a:endParaRPr lang="ko-KR" sz="1200" dirty="0"/>
          </a:p>
        </p:txBody>
      </p:sp>
      <p:sp>
        <p:nvSpPr>
          <p:cNvPr id="9" name="Text 7"/>
          <p:cNvSpPr/>
          <p:nvPr/>
        </p:nvSpPr>
        <p:spPr>
          <a:xfrm>
            <a:off x="950976" y="381304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13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트렌드모니터 · 엠브레인 구매딥데이터 DD.B</a:t>
            </a:r>
            <a:endParaRPr lang="ko-KR" sz="1300" dirty="0"/>
          </a:p>
          <a:p>
            <a:pPr algn="l" indent="0" marL="0">
              <a:buNone/>
            </a:pPr>
            <a:r>
              <a:rPr lang="ko-KR" altLang="en-US" sz="13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동네는 이 소주 먹는데? 지역별 최애 소주 순위 TOP7” · 2026-07-02</a:t>
            </a:r>
            <a:endParaRPr lang="ko-KR" sz="1300" dirty="0"/>
          </a:p>
          <a:p>
            <a:pPr algn="l" indent="0" marL="0">
              <a:buNone/>
            </a:pPr>
            <a:r>
              <a:rPr lang="ko-KR" altLang="en-US" sz="1300" dirty="0">
                <a:solidFill>
                  <a:srgbClr val="F5F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2026년 5월 MAT(최근 12개월) 가정용 소주류 구매액 순위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55412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900" b="1" dirty="0">
                <a:solidFill>
                  <a:srgbClr val="A6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페이지</a:t>
            </a:r>
            <a:endParaRPr lang="ko-KR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58155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900" dirty="0">
                <a:solidFill>
                  <a:srgbClr val="81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https://www.trendmonitor.co.kr/tmweb/trend/etcTrend/detail.do?bIdx=36&amp;code=DDB&amp;trendType=ranking</a:t>
            </a:r>
            <a:endParaRPr lang="ko-KR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64373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ko-KR" altLang="en-US" sz="800" dirty="0">
                <a:solidFill>
                  <a:srgbClr val="6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데이터: data/regional_top7_2026_mat.csv | 보조 해설(Puppia)은 순위 원자료 검증에 사용하지 않음</a:t>
            </a:r>
            <a:endParaRPr lang="ko-KR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 Literacy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지역별 가정용 소주 구매액 1위 브랜드</dc:title>
  <dc:subject>2026년 5월 MAT 지역별 가정용 소주 구매액 순위</dc:subject>
  <dc:creator>Data Literacy Project</dc:creator>
  <cp:lastModifiedBy>Data Literacy Project</cp:lastModifiedBy>
  <cp:revision>1</cp:revision>
  <dcterms:created xsi:type="dcterms:W3CDTF">2026-10-19T10:17:36Z</dcterms:created>
  <dcterms:modified xsi:type="dcterms:W3CDTF">2026-10-19T10:17:36Z</dcterms:modified>
</cp:coreProperties>
</file>